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d078f31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d078f31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d078f31f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d078f31f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d078f31f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d078f31f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d078f31f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d078f31f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d4c7652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d4c7652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d4c7652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d4c76528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d078f31f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d078f31f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d078f31f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d078f31f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d078f31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d078f31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d4c76528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d4c76528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d4c76528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d4c76528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fe3ab50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fe3ab50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d4c76528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d4c76528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d4c76528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d4c76528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d078f31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d078f31f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d4c76528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d4c76528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4fe3ab50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4fe3ab50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d4c76528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d4c76528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4d4c76528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4d4c76528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d4c765280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d4c76528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4d078f31f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4d078f31f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fe3ab50e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4fe3ab50e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d4c76528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4d4c76528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d4c76528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4d4c76528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d078f31f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d078f31f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d4c76528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d4c76528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9DAF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312700"/>
            <a:ext cx="8520600" cy="1529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Covid-19 Decision Trees Project</a:t>
            </a:r>
            <a:endParaRPr/>
          </a:p>
        </p:txBody>
      </p:sp>
      <p:sp>
        <p:nvSpPr>
          <p:cNvPr id="55" name="Google Shape;55;p13"/>
          <p:cNvSpPr txBox="1"/>
          <p:nvPr>
            <p:ph idx="1" type="subTitle"/>
          </p:nvPr>
        </p:nvSpPr>
        <p:spPr>
          <a:xfrm>
            <a:off x="311700" y="2935750"/>
            <a:ext cx="8520600" cy="706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Noah Zaleski, </a:t>
            </a:r>
            <a:r>
              <a:rPr lang="en"/>
              <a:t>Carl Martin</a:t>
            </a:r>
            <a:r>
              <a:rPr lang="en"/>
              <a:t>, Alex Ruvolo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Description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Main topic is Covid-19</a:t>
            </a:r>
            <a:endParaRPr sz="1600"/>
          </a:p>
          <a:p>
            <a:pPr indent="-330200" lvl="0" marL="457200" rtl="0" algn="l">
              <a:spcBef>
                <a:spcPts val="0"/>
              </a:spcBef>
              <a:spcAft>
                <a:spcPts val="0"/>
              </a:spcAft>
              <a:buSzPts val="1600"/>
              <a:buChar char="●"/>
            </a:pPr>
            <a:r>
              <a:rPr lang="en" sz="1600"/>
              <a:t>Consists of about 1,000,000 hospital patients from Mexico</a:t>
            </a:r>
            <a:endParaRPr sz="1600"/>
          </a:p>
          <a:p>
            <a:pPr indent="-330200" lvl="0" marL="457200" rtl="0" algn="l">
              <a:spcBef>
                <a:spcPts val="0"/>
              </a:spcBef>
              <a:spcAft>
                <a:spcPts val="0"/>
              </a:spcAft>
              <a:buSzPts val="1600"/>
              <a:buChar char="●"/>
            </a:pPr>
            <a:r>
              <a:rPr lang="en" sz="1600"/>
              <a:t>Response Variable: Status of patient (Alive = 1/Dead = 0)</a:t>
            </a:r>
            <a:endParaRPr sz="1600"/>
          </a:p>
          <a:p>
            <a:pPr indent="-330200" lvl="0" marL="457200" rtl="0" algn="l">
              <a:spcBef>
                <a:spcPts val="0"/>
              </a:spcBef>
              <a:spcAft>
                <a:spcPts val="0"/>
              </a:spcAft>
              <a:buSzPts val="1600"/>
              <a:buChar char="●"/>
            </a:pPr>
            <a:r>
              <a:rPr lang="en" sz="1600"/>
              <a:t>Contained 21 unique factors and we </a:t>
            </a:r>
            <a:r>
              <a:rPr lang="en" sz="1600"/>
              <a:t>included</a:t>
            </a:r>
            <a:r>
              <a:rPr lang="en" sz="1600"/>
              <a:t> 19 </a:t>
            </a:r>
            <a:endParaRPr sz="1600"/>
          </a:p>
          <a:p>
            <a:pPr indent="-330200" lvl="0" marL="457200" rtl="0" algn="l">
              <a:spcBef>
                <a:spcPts val="0"/>
              </a:spcBef>
              <a:spcAft>
                <a:spcPts val="0"/>
              </a:spcAft>
              <a:buSzPts val="1600"/>
              <a:buChar char="●"/>
            </a:pPr>
            <a:r>
              <a:rPr lang="en" sz="1600"/>
              <a:t>Removed variables specifically related to only dead patients</a:t>
            </a:r>
            <a:endParaRPr sz="1600"/>
          </a:p>
          <a:p>
            <a:pPr indent="-330200" lvl="0" marL="457200" rtl="0" algn="l">
              <a:spcBef>
                <a:spcPts val="0"/>
              </a:spcBef>
              <a:spcAft>
                <a:spcPts val="0"/>
              </a:spcAft>
              <a:buSzPts val="1600"/>
              <a:buChar char="●"/>
            </a:pPr>
            <a:r>
              <a:rPr lang="en" sz="1600"/>
              <a:t>The remaining variables consisted of factors like sex, age, type of hospital care, current health conditions, and current habits</a:t>
            </a:r>
            <a:endParaRPr sz="1600"/>
          </a:p>
          <a:p>
            <a:pPr indent="-330200" lvl="0" marL="457200" rtl="0" algn="l">
              <a:spcBef>
                <a:spcPts val="0"/>
              </a:spcBef>
              <a:spcAft>
                <a:spcPts val="0"/>
              </a:spcAft>
              <a:buSzPts val="1600"/>
              <a:buChar char="●"/>
            </a:pPr>
            <a:r>
              <a:rPr lang="en" sz="1600"/>
              <a:t>There were some missing values that were already labeled</a:t>
            </a:r>
            <a:endParaRPr sz="1600"/>
          </a:p>
          <a:p>
            <a:pPr indent="-330200" lvl="0" marL="457200" rtl="0" algn="l">
              <a:spcBef>
                <a:spcPts val="0"/>
              </a:spcBef>
              <a:spcAft>
                <a:spcPts val="0"/>
              </a:spcAft>
              <a:buSzPts val="1600"/>
              <a:buChar char="●"/>
            </a:pPr>
            <a:r>
              <a:rPr lang="en" sz="1600"/>
              <a:t>Testing and </a:t>
            </a:r>
            <a:r>
              <a:rPr lang="en" sz="1600"/>
              <a:t>training</a:t>
            </a:r>
            <a:r>
              <a:rPr lang="en" sz="1600"/>
              <a:t> was determined randomly with 50% being labeled into each group (0 = testing &amp; 1 = training)</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1200"/>
              </a:spcBef>
              <a:spcAft>
                <a:spcPts val="1200"/>
              </a:spcAft>
              <a:buNone/>
            </a:pPr>
            <a:r>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Important Preliminary Statistics</a:t>
            </a:r>
            <a:endParaRPr/>
          </a:p>
        </p:txBody>
      </p:sp>
      <p:sp>
        <p:nvSpPr>
          <p:cNvPr id="67" name="Google Shape;67;p15"/>
          <p:cNvSpPr txBox="1"/>
          <p:nvPr>
            <p:ph idx="1" type="body"/>
          </p:nvPr>
        </p:nvSpPr>
        <p:spPr>
          <a:xfrm>
            <a:off x="311700" y="1152475"/>
            <a:ext cx="4203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Low percent of dead patients</a:t>
            </a:r>
            <a:endParaRPr/>
          </a:p>
          <a:p>
            <a:pPr indent="-342900" lvl="0" marL="457200" rtl="0" algn="l">
              <a:spcBef>
                <a:spcPts val="0"/>
              </a:spcBef>
              <a:spcAft>
                <a:spcPts val="0"/>
              </a:spcAft>
              <a:buSzPts val="1800"/>
              <a:buChar char="●"/>
            </a:pPr>
            <a:r>
              <a:rPr lang="en"/>
              <a:t>Caused us to set a 75% threshold for each model</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Alive patients tended to be younger than the dead patients</a:t>
            </a:r>
            <a:endParaRPr/>
          </a:p>
          <a:p>
            <a:pPr indent="-342900" lvl="0" marL="457200" rtl="0" algn="l">
              <a:spcBef>
                <a:spcPts val="0"/>
              </a:spcBef>
              <a:spcAft>
                <a:spcPts val="0"/>
              </a:spcAft>
              <a:buSzPts val="1800"/>
              <a:buChar char="●"/>
            </a:pPr>
            <a:r>
              <a:rPr lang="en"/>
              <a:t>Dead distribution is skewed left</a:t>
            </a:r>
            <a:endParaRPr/>
          </a:p>
          <a:p>
            <a:pPr indent="-342900" lvl="0" marL="457200" rtl="0" algn="l">
              <a:spcBef>
                <a:spcPts val="0"/>
              </a:spcBef>
              <a:spcAft>
                <a:spcPts val="0"/>
              </a:spcAft>
              <a:buSzPts val="1800"/>
              <a:buChar char="●"/>
            </a:pPr>
            <a:r>
              <a:rPr lang="en"/>
              <a:t>Alive distribution is skewed right</a:t>
            </a:r>
            <a:endParaRPr/>
          </a:p>
        </p:txBody>
      </p:sp>
      <p:pic>
        <p:nvPicPr>
          <p:cNvPr id="68" name="Google Shape;68;p15"/>
          <p:cNvPicPr preferRelativeResize="0"/>
          <p:nvPr/>
        </p:nvPicPr>
        <p:blipFill>
          <a:blip r:embed="rId3">
            <a:alphaModFix/>
          </a:blip>
          <a:stretch>
            <a:fillRect/>
          </a:stretch>
        </p:blipFill>
        <p:spPr>
          <a:xfrm>
            <a:off x="4572000" y="1152475"/>
            <a:ext cx="4260300" cy="1291335"/>
          </a:xfrm>
          <a:prstGeom prst="rect">
            <a:avLst/>
          </a:prstGeom>
          <a:noFill/>
          <a:ln>
            <a:noFill/>
          </a:ln>
        </p:spPr>
      </p:pic>
      <p:pic>
        <p:nvPicPr>
          <p:cNvPr id="69" name="Google Shape;69;p15"/>
          <p:cNvPicPr preferRelativeResize="0"/>
          <p:nvPr/>
        </p:nvPicPr>
        <p:blipFill rotWithShape="1">
          <a:blip r:embed="rId4">
            <a:alphaModFix/>
          </a:blip>
          <a:srcRect b="0" l="2257" r="0" t="0"/>
          <a:stretch/>
        </p:blipFill>
        <p:spPr>
          <a:xfrm>
            <a:off x="4572000" y="2509250"/>
            <a:ext cx="4260301" cy="25077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Model Summary</a:t>
            </a:r>
            <a:endParaRPr/>
          </a:p>
        </p:txBody>
      </p:sp>
      <p:sp>
        <p:nvSpPr>
          <p:cNvPr id="75" name="Google Shape;75;p16"/>
          <p:cNvSpPr txBox="1"/>
          <p:nvPr>
            <p:ph idx="1" type="body"/>
          </p:nvPr>
        </p:nvSpPr>
        <p:spPr>
          <a:xfrm>
            <a:off x="311700" y="1152475"/>
            <a:ext cx="5347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Included all variables</a:t>
            </a:r>
            <a:endParaRPr/>
          </a:p>
          <a:p>
            <a:pPr indent="-342900" lvl="0" marL="457200" rtl="0" algn="l">
              <a:spcBef>
                <a:spcPts val="0"/>
              </a:spcBef>
              <a:spcAft>
                <a:spcPts val="0"/>
              </a:spcAft>
              <a:buSzPts val="1800"/>
              <a:buChar char="●"/>
            </a:pPr>
            <a:r>
              <a:rPr lang="en"/>
              <a:t>5 were used in the final model</a:t>
            </a:r>
            <a:endParaRPr/>
          </a:p>
          <a:p>
            <a:pPr indent="-342900" lvl="0" marL="457200" rtl="0" algn="l">
              <a:spcBef>
                <a:spcPts val="0"/>
              </a:spcBef>
              <a:spcAft>
                <a:spcPts val="0"/>
              </a:spcAft>
              <a:buSzPts val="1800"/>
              <a:buChar char="●"/>
            </a:pPr>
            <a:r>
              <a:rPr lang="en"/>
              <a:t>Best maximum parent node size: 15,000</a:t>
            </a:r>
            <a:endParaRPr/>
          </a:p>
          <a:p>
            <a:pPr indent="-342900" lvl="0" marL="457200" rtl="0" algn="l">
              <a:spcBef>
                <a:spcPts val="0"/>
              </a:spcBef>
              <a:spcAft>
                <a:spcPts val="0"/>
              </a:spcAft>
              <a:buSzPts val="1800"/>
              <a:buChar char="●"/>
            </a:pPr>
            <a:r>
              <a:rPr lang="en"/>
              <a:t>Best maximum child </a:t>
            </a:r>
            <a:r>
              <a:rPr lang="en"/>
              <a:t>node size: 7,500</a:t>
            </a:r>
            <a:endParaRPr/>
          </a:p>
          <a:p>
            <a:pPr indent="-342900" lvl="0" marL="457200" rtl="0" algn="l">
              <a:spcBef>
                <a:spcPts val="0"/>
              </a:spcBef>
              <a:spcAft>
                <a:spcPts val="0"/>
              </a:spcAft>
              <a:buSzPts val="1800"/>
              <a:buChar char="●"/>
            </a:pPr>
            <a:r>
              <a:rPr lang="en"/>
              <a:t>15 Nodes</a:t>
            </a:r>
            <a:endParaRPr/>
          </a:p>
          <a:p>
            <a:pPr indent="-342900" lvl="0" marL="457200" rtl="0" algn="l">
              <a:spcBef>
                <a:spcPts val="0"/>
              </a:spcBef>
              <a:spcAft>
                <a:spcPts val="0"/>
              </a:spcAft>
              <a:buSzPts val="1800"/>
              <a:buChar char="●"/>
            </a:pPr>
            <a:r>
              <a:rPr lang="en"/>
              <a:t>9 Terminal Nodes</a:t>
            </a:r>
            <a:endParaRPr/>
          </a:p>
          <a:p>
            <a:pPr indent="-342900" lvl="0" marL="457200" rtl="0" algn="l">
              <a:spcBef>
                <a:spcPts val="0"/>
              </a:spcBef>
              <a:spcAft>
                <a:spcPts val="0"/>
              </a:spcAft>
              <a:buSzPts val="1800"/>
              <a:buChar char="●"/>
            </a:pPr>
            <a:r>
              <a:rPr lang="en"/>
              <a:t>3 Levels</a:t>
            </a:r>
            <a:endParaRPr/>
          </a:p>
        </p:txBody>
      </p:sp>
      <p:pic>
        <p:nvPicPr>
          <p:cNvPr id="76" name="Google Shape;76;p16"/>
          <p:cNvPicPr preferRelativeResize="0"/>
          <p:nvPr/>
        </p:nvPicPr>
        <p:blipFill>
          <a:blip r:embed="rId3">
            <a:alphaModFix/>
          </a:blip>
          <a:stretch>
            <a:fillRect/>
          </a:stretch>
        </p:blipFill>
        <p:spPr>
          <a:xfrm>
            <a:off x="5851400" y="334925"/>
            <a:ext cx="2780275" cy="4662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Decision Tree Level 1</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3" name="Google Shape;83;p17"/>
          <p:cNvPicPr preferRelativeResize="0"/>
          <p:nvPr/>
        </p:nvPicPr>
        <p:blipFill rotWithShape="1">
          <a:blip r:embed="rId3">
            <a:alphaModFix/>
          </a:blip>
          <a:srcRect b="46239" l="0" r="0" t="0"/>
          <a:stretch/>
        </p:blipFill>
        <p:spPr>
          <a:xfrm>
            <a:off x="311700" y="1152900"/>
            <a:ext cx="8520599" cy="3375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Decision Tree Levels 2 &amp; 3</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0" name="Google Shape;90;p18"/>
          <p:cNvPicPr preferRelativeResize="0"/>
          <p:nvPr/>
        </p:nvPicPr>
        <p:blipFill rotWithShape="1">
          <a:blip r:embed="rId3">
            <a:alphaModFix/>
          </a:blip>
          <a:srcRect b="0" l="0" r="0" t="51267"/>
          <a:stretch/>
        </p:blipFill>
        <p:spPr>
          <a:xfrm>
            <a:off x="311700" y="1152475"/>
            <a:ext cx="8520599" cy="3059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Story</a:t>
            </a:r>
            <a:endParaRPr/>
          </a:p>
        </p:txBody>
      </p:sp>
      <p:sp>
        <p:nvSpPr>
          <p:cNvPr id="96" name="Google Shape;96;p19"/>
          <p:cNvSpPr txBox="1"/>
          <p:nvPr>
            <p:ph idx="1" type="body"/>
          </p:nvPr>
        </p:nvSpPr>
        <p:spPr>
          <a:xfrm>
            <a:off x="311700" y="1158725"/>
            <a:ext cx="7768500" cy="3416400"/>
          </a:xfrm>
          <a:prstGeom prst="rect">
            <a:avLst/>
          </a:prstGeom>
        </p:spPr>
        <p:txBody>
          <a:bodyPr anchorCtr="0" anchor="t" bIns="91425" lIns="91425" spcFirstLastPara="1" rIns="91425" wrap="square" tIns="91425">
            <a:normAutofit lnSpcReduction="10000"/>
          </a:bodyPr>
          <a:lstStyle/>
          <a:p>
            <a:pPr indent="-330200" lvl="0" marL="457200" marR="0" rtl="0" algn="l">
              <a:spcBef>
                <a:spcPts val="0"/>
              </a:spcBef>
              <a:spcAft>
                <a:spcPts val="0"/>
              </a:spcAft>
              <a:buSzPts val="1600"/>
              <a:buChar char="●"/>
            </a:pPr>
            <a:r>
              <a:rPr lang="en" sz="1600"/>
              <a:t>People who were most likely to live were those with a missing value for the ventilator, did not have pneumonia, and did not have diabetes, with 99.6% of them living</a:t>
            </a:r>
            <a:endParaRPr sz="1600"/>
          </a:p>
          <a:p>
            <a:pPr indent="-330200" lvl="0" marL="457200" marR="0" rtl="0" algn="l">
              <a:spcBef>
                <a:spcPts val="0"/>
              </a:spcBef>
              <a:spcAft>
                <a:spcPts val="0"/>
              </a:spcAft>
              <a:buSzPts val="1600"/>
              <a:buChar char="●"/>
            </a:pPr>
            <a:r>
              <a:rPr lang="en" sz="1600"/>
              <a:t>People who were next most likely to live were those with a missing value for the ventilator, did not have pneumonia, and either had diabetes or missing, with 97.9% of them living</a:t>
            </a:r>
            <a:endParaRPr sz="1600"/>
          </a:p>
          <a:p>
            <a:pPr indent="-330200" lvl="0" marL="457200" marR="0" rtl="0" algn="l">
              <a:spcBef>
                <a:spcPts val="0"/>
              </a:spcBef>
              <a:spcAft>
                <a:spcPts val="0"/>
              </a:spcAft>
              <a:buSzPts val="1600"/>
              <a:buChar char="●"/>
            </a:pPr>
            <a:r>
              <a:rPr lang="en" sz="1600"/>
              <a:t>People who were most likely to die were those who were connected to the ventilator, with 78.1% of them dying</a:t>
            </a:r>
            <a:endParaRPr sz="1600"/>
          </a:p>
          <a:p>
            <a:pPr indent="-330200" lvl="0" marL="457200" marR="0" rtl="0" algn="l">
              <a:spcBef>
                <a:spcPts val="0"/>
              </a:spcBef>
              <a:spcAft>
                <a:spcPts val="0"/>
              </a:spcAft>
              <a:buSzPts val="1600"/>
              <a:buChar char="●"/>
            </a:pPr>
            <a:r>
              <a:rPr lang="en" sz="1600"/>
              <a:t>People who were next most likely to die were those who were not connected to the ventilator, had pneumonia, and either had hypertension or missing, with 40.4% of them dying</a:t>
            </a:r>
            <a:endParaRPr sz="1600"/>
          </a:p>
          <a:p>
            <a:pPr indent="0" lvl="0" marL="0" marR="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Risk, Sensitivity, &amp; Specificity</a:t>
            </a:r>
            <a:endParaRPr/>
          </a:p>
        </p:txBody>
      </p:sp>
      <p:sp>
        <p:nvSpPr>
          <p:cNvPr id="102" name="Google Shape;102;p20"/>
          <p:cNvSpPr txBox="1"/>
          <p:nvPr>
            <p:ph idx="1" type="body"/>
          </p:nvPr>
        </p:nvSpPr>
        <p:spPr>
          <a:xfrm>
            <a:off x="311700" y="1152475"/>
            <a:ext cx="3005400" cy="3416400"/>
          </a:xfrm>
          <a:prstGeom prst="rect">
            <a:avLst/>
          </a:prstGeom>
        </p:spPr>
        <p:txBody>
          <a:bodyPr anchorCtr="0" anchor="t" bIns="91425" lIns="91425" spcFirstLastPara="1" rIns="91425" wrap="square" tIns="91425">
            <a:normAutofit/>
          </a:bodyPr>
          <a:lstStyle/>
          <a:p>
            <a:pPr indent="-323850" lvl="0" marL="457200" marR="0" rtl="0" algn="l">
              <a:spcBef>
                <a:spcPts val="0"/>
              </a:spcBef>
              <a:spcAft>
                <a:spcPts val="0"/>
              </a:spcAft>
              <a:buSzPts val="1500"/>
              <a:buChar char="●"/>
            </a:pPr>
            <a:r>
              <a:rPr lang="en" sz="1500"/>
              <a:t>Risk = 44794/523577 = 0.085 </a:t>
            </a:r>
            <a:endParaRPr sz="1500"/>
          </a:p>
          <a:p>
            <a:pPr indent="-323850" lvl="0" marL="457200" marR="0" rtl="0" algn="l">
              <a:spcBef>
                <a:spcPts val="0"/>
              </a:spcBef>
              <a:spcAft>
                <a:spcPts val="0"/>
              </a:spcAft>
              <a:buSzPts val="1500"/>
              <a:buChar char="●"/>
            </a:pPr>
            <a:r>
              <a:rPr lang="en" sz="1500"/>
              <a:t>Sensitivity = 93.0%</a:t>
            </a:r>
            <a:endParaRPr sz="1500"/>
          </a:p>
          <a:p>
            <a:pPr indent="-323850" lvl="0" marL="457200" marR="0" rtl="0" algn="l">
              <a:spcBef>
                <a:spcPts val="0"/>
              </a:spcBef>
              <a:spcAft>
                <a:spcPts val="0"/>
              </a:spcAft>
              <a:buSzPts val="1500"/>
              <a:buChar char="●"/>
            </a:pPr>
            <a:r>
              <a:rPr lang="en" sz="1500"/>
              <a:t>Specificity = 72.2%</a:t>
            </a:r>
            <a:endParaRPr sz="1500"/>
          </a:p>
          <a:p>
            <a:pPr indent="-323850" lvl="0" marL="457200" marR="0" rtl="0" algn="l">
              <a:spcBef>
                <a:spcPts val="0"/>
              </a:spcBef>
              <a:spcAft>
                <a:spcPts val="0"/>
              </a:spcAft>
              <a:buSzPts val="1500"/>
              <a:buChar char="●"/>
            </a:pPr>
            <a:r>
              <a:rPr lang="en" sz="1500"/>
              <a:t>8.5% of </a:t>
            </a:r>
            <a:r>
              <a:rPr lang="en" sz="1500"/>
              <a:t>responses were incorrectly predicted</a:t>
            </a:r>
            <a:endParaRPr sz="1500"/>
          </a:p>
          <a:p>
            <a:pPr indent="-323850" lvl="0" marL="457200" marR="0" rtl="0" algn="l">
              <a:spcBef>
                <a:spcPts val="0"/>
              </a:spcBef>
              <a:spcAft>
                <a:spcPts val="0"/>
              </a:spcAft>
              <a:buSzPts val="1500"/>
              <a:buChar char="●"/>
            </a:pPr>
            <a:r>
              <a:rPr lang="en" sz="1500"/>
              <a:t>Very good at </a:t>
            </a:r>
            <a:r>
              <a:rPr lang="en" sz="1500"/>
              <a:t>predicting</a:t>
            </a:r>
            <a:r>
              <a:rPr lang="en" sz="1500"/>
              <a:t> if </a:t>
            </a:r>
            <a:endParaRPr sz="1500"/>
          </a:p>
          <a:p>
            <a:pPr indent="0" lvl="0" marL="0" marR="0" rtl="0" algn="l">
              <a:spcBef>
                <a:spcPts val="0"/>
              </a:spcBef>
              <a:spcAft>
                <a:spcPts val="0"/>
              </a:spcAft>
              <a:buNone/>
            </a:pPr>
            <a:r>
              <a:rPr lang="en" sz="1500"/>
              <a:t>         patients lived</a:t>
            </a:r>
            <a:endParaRPr sz="1500"/>
          </a:p>
          <a:p>
            <a:pPr indent="0" lvl="0" marL="0" rtl="0" algn="l">
              <a:spcBef>
                <a:spcPts val="0"/>
              </a:spcBef>
              <a:spcAft>
                <a:spcPts val="1200"/>
              </a:spcAft>
              <a:buNone/>
            </a:pPr>
            <a:r>
              <a:t/>
            </a:r>
            <a:endParaRPr/>
          </a:p>
        </p:txBody>
      </p:sp>
      <p:pic>
        <p:nvPicPr>
          <p:cNvPr id="103" name="Google Shape;103;p20"/>
          <p:cNvPicPr preferRelativeResize="0"/>
          <p:nvPr/>
        </p:nvPicPr>
        <p:blipFill>
          <a:blip r:embed="rId3">
            <a:alphaModFix/>
          </a:blip>
          <a:stretch>
            <a:fillRect/>
          </a:stretch>
        </p:blipFill>
        <p:spPr>
          <a:xfrm>
            <a:off x="3469725" y="1152475"/>
            <a:ext cx="5362575" cy="2105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CHAID ASE</a:t>
            </a:r>
            <a:endParaRPr/>
          </a:p>
        </p:txBody>
      </p:sp>
      <p:sp>
        <p:nvSpPr>
          <p:cNvPr id="109" name="Google Shape;109;p21"/>
          <p:cNvSpPr txBox="1"/>
          <p:nvPr>
            <p:ph idx="1" type="body"/>
          </p:nvPr>
        </p:nvSpPr>
        <p:spPr>
          <a:xfrm>
            <a:off x="311700" y="1152475"/>
            <a:ext cx="4196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Node 9 was predicted with the least accuracy</a:t>
            </a:r>
            <a:endParaRPr/>
          </a:p>
          <a:p>
            <a:pPr indent="-342900" lvl="0" marL="457200" rtl="0" algn="l">
              <a:spcBef>
                <a:spcPts val="0"/>
              </a:spcBef>
              <a:spcAft>
                <a:spcPts val="0"/>
              </a:spcAft>
              <a:buSzPts val="1800"/>
              <a:buChar char="●"/>
            </a:pPr>
            <a:r>
              <a:rPr lang="en"/>
              <a:t>Node 13 was predicted with the most accuracy</a:t>
            </a:r>
            <a:endParaRPr/>
          </a:p>
          <a:p>
            <a:pPr indent="-342900" lvl="0" marL="457200" rtl="0" algn="l">
              <a:spcBef>
                <a:spcPts val="0"/>
              </a:spcBef>
              <a:spcAft>
                <a:spcPts val="0"/>
              </a:spcAft>
              <a:buSzPts val="1800"/>
              <a:buChar char="●"/>
            </a:pPr>
            <a:r>
              <a:rPr lang="en"/>
              <a:t>Overall ASE for the testing set is 0.0412</a:t>
            </a:r>
            <a:endParaRPr/>
          </a:p>
          <a:p>
            <a:pPr indent="-342900" lvl="0" marL="457200" rtl="0" algn="l">
              <a:spcBef>
                <a:spcPts val="0"/>
              </a:spcBef>
              <a:spcAft>
                <a:spcPts val="0"/>
              </a:spcAft>
              <a:buSzPts val="1800"/>
              <a:buChar char="●"/>
            </a:pPr>
            <a:r>
              <a:rPr lang="en"/>
              <a:t>Does not appear to be overfitting</a:t>
            </a:r>
            <a:endParaRPr/>
          </a:p>
        </p:txBody>
      </p:sp>
      <p:pic>
        <p:nvPicPr>
          <p:cNvPr id="110" name="Google Shape;110;p21"/>
          <p:cNvPicPr preferRelativeResize="0"/>
          <p:nvPr/>
        </p:nvPicPr>
        <p:blipFill>
          <a:blip r:embed="rId3">
            <a:alphaModFix/>
          </a:blip>
          <a:stretch>
            <a:fillRect/>
          </a:stretch>
        </p:blipFill>
        <p:spPr>
          <a:xfrm>
            <a:off x="4507950" y="1152475"/>
            <a:ext cx="2162175" cy="2981325"/>
          </a:xfrm>
          <a:prstGeom prst="rect">
            <a:avLst/>
          </a:prstGeom>
          <a:noFill/>
          <a:ln>
            <a:noFill/>
          </a:ln>
        </p:spPr>
      </p:pic>
      <p:pic>
        <p:nvPicPr>
          <p:cNvPr id="111" name="Google Shape;111;p21"/>
          <p:cNvPicPr preferRelativeResize="0"/>
          <p:nvPr/>
        </p:nvPicPr>
        <p:blipFill>
          <a:blip r:embed="rId4">
            <a:alphaModFix/>
          </a:blip>
          <a:stretch>
            <a:fillRect/>
          </a:stretch>
        </p:blipFill>
        <p:spPr>
          <a:xfrm>
            <a:off x="6670125" y="1152475"/>
            <a:ext cx="2162175" cy="2981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Exhaustive CHAID Model Summary</a:t>
            </a:r>
            <a:endParaRPr/>
          </a:p>
        </p:txBody>
      </p:sp>
      <p:sp>
        <p:nvSpPr>
          <p:cNvPr id="117" name="Google Shape;117;p22"/>
          <p:cNvSpPr txBox="1"/>
          <p:nvPr>
            <p:ph idx="1" type="body"/>
          </p:nvPr>
        </p:nvSpPr>
        <p:spPr>
          <a:xfrm>
            <a:off x="311700" y="1152475"/>
            <a:ext cx="5849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Included all variables</a:t>
            </a:r>
            <a:endParaRPr/>
          </a:p>
          <a:p>
            <a:pPr indent="-342900" lvl="0" marL="457200" rtl="0" algn="l">
              <a:spcBef>
                <a:spcPts val="0"/>
              </a:spcBef>
              <a:spcAft>
                <a:spcPts val="0"/>
              </a:spcAft>
              <a:buSzPts val="1800"/>
              <a:buChar char="●"/>
            </a:pPr>
            <a:r>
              <a:rPr lang="en"/>
              <a:t>5 were used in the final model</a:t>
            </a:r>
            <a:endParaRPr/>
          </a:p>
          <a:p>
            <a:pPr indent="-342900" lvl="0" marL="457200" rtl="0" algn="l">
              <a:spcBef>
                <a:spcPts val="0"/>
              </a:spcBef>
              <a:spcAft>
                <a:spcPts val="0"/>
              </a:spcAft>
              <a:buSzPts val="1800"/>
              <a:buChar char="●"/>
            </a:pPr>
            <a:r>
              <a:rPr lang="en"/>
              <a:t>Best maximum parent node size: 20,000</a:t>
            </a:r>
            <a:endParaRPr/>
          </a:p>
          <a:p>
            <a:pPr indent="-342900" lvl="0" marL="457200" rtl="0" algn="l">
              <a:spcBef>
                <a:spcPts val="0"/>
              </a:spcBef>
              <a:spcAft>
                <a:spcPts val="0"/>
              </a:spcAft>
              <a:buSzPts val="1800"/>
              <a:buChar char="●"/>
            </a:pPr>
            <a:r>
              <a:rPr lang="en"/>
              <a:t>Best maximum child node size: 10,000</a:t>
            </a:r>
            <a:endParaRPr/>
          </a:p>
          <a:p>
            <a:pPr indent="-342900" lvl="0" marL="457200" rtl="0" algn="l">
              <a:spcBef>
                <a:spcPts val="0"/>
              </a:spcBef>
              <a:spcAft>
                <a:spcPts val="0"/>
              </a:spcAft>
              <a:buSzPts val="1800"/>
              <a:buChar char="●"/>
            </a:pPr>
            <a:r>
              <a:rPr lang="en"/>
              <a:t>14 Nodes</a:t>
            </a:r>
            <a:endParaRPr/>
          </a:p>
          <a:p>
            <a:pPr indent="-342900" lvl="0" marL="457200" rtl="0" algn="l">
              <a:spcBef>
                <a:spcPts val="0"/>
              </a:spcBef>
              <a:spcAft>
                <a:spcPts val="0"/>
              </a:spcAft>
              <a:buSzPts val="1800"/>
              <a:buChar char="●"/>
            </a:pPr>
            <a:r>
              <a:rPr lang="en"/>
              <a:t>8 Terminal Nodes</a:t>
            </a:r>
            <a:endParaRPr/>
          </a:p>
          <a:p>
            <a:pPr indent="-342900" lvl="0" marL="457200" rtl="0" algn="l">
              <a:spcBef>
                <a:spcPts val="0"/>
              </a:spcBef>
              <a:spcAft>
                <a:spcPts val="0"/>
              </a:spcAft>
              <a:buSzPts val="1800"/>
              <a:buChar char="●"/>
            </a:pPr>
            <a:r>
              <a:rPr lang="en"/>
              <a:t>3 Levels</a:t>
            </a:r>
            <a:endParaRPr/>
          </a:p>
          <a:p>
            <a:pPr indent="0" lvl="0" marL="0" rtl="0" algn="l">
              <a:spcBef>
                <a:spcPts val="1200"/>
              </a:spcBef>
              <a:spcAft>
                <a:spcPts val="1200"/>
              </a:spcAft>
              <a:buNone/>
            </a:pPr>
            <a:r>
              <a:t/>
            </a:r>
            <a:endParaRPr/>
          </a:p>
        </p:txBody>
      </p:sp>
      <p:pic>
        <p:nvPicPr>
          <p:cNvPr id="118" name="Google Shape;118;p22"/>
          <p:cNvPicPr preferRelativeResize="0"/>
          <p:nvPr/>
        </p:nvPicPr>
        <p:blipFill>
          <a:blip r:embed="rId3">
            <a:alphaModFix/>
          </a:blip>
          <a:stretch>
            <a:fillRect/>
          </a:stretch>
        </p:blipFill>
        <p:spPr>
          <a:xfrm>
            <a:off x="6161500" y="402250"/>
            <a:ext cx="2670800" cy="3340400"/>
          </a:xfrm>
          <a:prstGeom prst="rect">
            <a:avLst/>
          </a:prstGeom>
          <a:noFill/>
          <a:ln>
            <a:noFill/>
          </a:ln>
        </p:spPr>
      </p:pic>
      <p:pic>
        <p:nvPicPr>
          <p:cNvPr id="119" name="Google Shape;119;p22"/>
          <p:cNvPicPr preferRelativeResize="0"/>
          <p:nvPr/>
        </p:nvPicPr>
        <p:blipFill>
          <a:blip r:embed="rId4">
            <a:alphaModFix/>
          </a:blip>
          <a:stretch>
            <a:fillRect/>
          </a:stretch>
        </p:blipFill>
        <p:spPr>
          <a:xfrm>
            <a:off x="6161500" y="3742650"/>
            <a:ext cx="2670800" cy="1296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Exhaustive CHAID Decision Tree Level 1</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6" name="Google Shape;126;p23"/>
          <p:cNvPicPr preferRelativeResize="0"/>
          <p:nvPr/>
        </p:nvPicPr>
        <p:blipFill rotWithShape="1">
          <a:blip r:embed="rId3">
            <a:alphaModFix/>
          </a:blip>
          <a:srcRect b="47279" l="0" r="0" t="0"/>
          <a:stretch/>
        </p:blipFill>
        <p:spPr>
          <a:xfrm>
            <a:off x="311700" y="1152477"/>
            <a:ext cx="8520599" cy="29146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Exhaustive CHAID Decision Tree Levels 2 &amp; 3</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3" name="Google Shape;133;p24"/>
          <p:cNvPicPr preferRelativeResize="0"/>
          <p:nvPr/>
        </p:nvPicPr>
        <p:blipFill rotWithShape="1">
          <a:blip r:embed="rId3">
            <a:alphaModFix/>
          </a:blip>
          <a:srcRect b="0" l="0" r="0" t="50293"/>
          <a:stretch/>
        </p:blipFill>
        <p:spPr>
          <a:xfrm>
            <a:off x="311700" y="1152477"/>
            <a:ext cx="8520599" cy="27479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Exhaustive CHAID Story</a:t>
            </a:r>
            <a:endParaRPr/>
          </a:p>
          <a:p>
            <a:pPr indent="0" lvl="0" marL="0" rtl="0" algn="l">
              <a:spcBef>
                <a:spcPts val="0"/>
              </a:spcBef>
              <a:spcAft>
                <a:spcPts val="0"/>
              </a:spcAft>
              <a:buNone/>
            </a:pPr>
            <a:r>
              <a:t/>
            </a:r>
            <a:endParaRPr/>
          </a:p>
        </p:txBody>
      </p:sp>
      <p:sp>
        <p:nvSpPr>
          <p:cNvPr id="139" name="Google Shape;139;p25"/>
          <p:cNvSpPr txBox="1"/>
          <p:nvPr>
            <p:ph idx="1" type="body"/>
          </p:nvPr>
        </p:nvSpPr>
        <p:spPr>
          <a:xfrm>
            <a:off x="311700" y="1158725"/>
            <a:ext cx="7768500" cy="3416400"/>
          </a:xfrm>
          <a:prstGeom prst="rect">
            <a:avLst/>
          </a:prstGeom>
        </p:spPr>
        <p:txBody>
          <a:bodyPr anchorCtr="0" anchor="t" bIns="91425" lIns="91425" spcFirstLastPara="1" rIns="91425" wrap="square" tIns="91425">
            <a:normAutofit lnSpcReduction="10000"/>
          </a:bodyPr>
          <a:lstStyle/>
          <a:p>
            <a:pPr indent="-330200" lvl="0" marL="457200" marR="0" rtl="0" algn="l">
              <a:spcBef>
                <a:spcPts val="0"/>
              </a:spcBef>
              <a:spcAft>
                <a:spcPts val="0"/>
              </a:spcAft>
              <a:buSzPts val="1600"/>
              <a:buChar char="●"/>
            </a:pPr>
            <a:r>
              <a:rPr lang="en" sz="1600"/>
              <a:t>People who were most likely to live were those with a missing value for the ventilator, did not have pneumonia, and did not have diabetes, with 99.6% of them living</a:t>
            </a:r>
            <a:endParaRPr sz="1600"/>
          </a:p>
          <a:p>
            <a:pPr indent="-330200" lvl="0" marL="457200" marR="0" rtl="0" algn="l">
              <a:spcBef>
                <a:spcPts val="0"/>
              </a:spcBef>
              <a:spcAft>
                <a:spcPts val="0"/>
              </a:spcAft>
              <a:buSzPts val="1600"/>
              <a:buChar char="●"/>
            </a:pPr>
            <a:r>
              <a:rPr lang="en" sz="1600"/>
              <a:t>People who were next most likely to live were those with a missing value for the ventilator, did not have pneumonia, and either had diabetes or missing, with 97.9% of them living</a:t>
            </a:r>
            <a:endParaRPr sz="1600"/>
          </a:p>
          <a:p>
            <a:pPr indent="-330200" lvl="0" marL="457200" marR="0" rtl="0" algn="l">
              <a:spcBef>
                <a:spcPts val="0"/>
              </a:spcBef>
              <a:spcAft>
                <a:spcPts val="0"/>
              </a:spcAft>
              <a:buSzPts val="1600"/>
              <a:buChar char="●"/>
            </a:pPr>
            <a:r>
              <a:rPr lang="en" sz="1600"/>
              <a:t>People who were most likely to die were those who were connected to the ventilator, with 78.1% of them dying</a:t>
            </a:r>
            <a:endParaRPr sz="1600"/>
          </a:p>
          <a:p>
            <a:pPr indent="-330200" lvl="0" marL="457200" marR="0" rtl="0" algn="l">
              <a:spcBef>
                <a:spcPts val="0"/>
              </a:spcBef>
              <a:spcAft>
                <a:spcPts val="0"/>
              </a:spcAft>
              <a:buSzPts val="1600"/>
              <a:buChar char="●"/>
            </a:pPr>
            <a:r>
              <a:rPr lang="en" sz="1600"/>
              <a:t>People who were next most likely to die were those who were not connected to the ventilator, had pneumonia, and either had hypertension or missing, with 40.4% of them dying</a:t>
            </a:r>
            <a:endParaRPr sz="1600"/>
          </a:p>
          <a:p>
            <a:pPr indent="0" lvl="0" marL="0" marR="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Exhaustive CHAID Risk, Sensitivity, &amp; Specificity</a:t>
            </a:r>
            <a:endParaRPr/>
          </a:p>
        </p:txBody>
      </p:sp>
      <p:sp>
        <p:nvSpPr>
          <p:cNvPr id="145" name="Google Shape;145;p26"/>
          <p:cNvSpPr txBox="1"/>
          <p:nvPr>
            <p:ph idx="1" type="body"/>
          </p:nvPr>
        </p:nvSpPr>
        <p:spPr>
          <a:xfrm>
            <a:off x="311700" y="1152475"/>
            <a:ext cx="3472500" cy="3416400"/>
          </a:xfrm>
          <a:prstGeom prst="rect">
            <a:avLst/>
          </a:prstGeom>
        </p:spPr>
        <p:txBody>
          <a:bodyPr anchorCtr="0" anchor="t" bIns="91425" lIns="91425" spcFirstLastPara="1" rIns="91425" wrap="square" tIns="91425">
            <a:normAutofit/>
          </a:bodyPr>
          <a:lstStyle/>
          <a:p>
            <a:pPr indent="-327025" lvl="0" marL="457200" rtl="0" algn="l">
              <a:spcBef>
                <a:spcPts val="0"/>
              </a:spcBef>
              <a:spcAft>
                <a:spcPts val="0"/>
              </a:spcAft>
              <a:buSzPts val="1550"/>
              <a:buChar char="●"/>
            </a:pPr>
            <a:r>
              <a:rPr lang="en" sz="1550"/>
              <a:t>Risk = 44794/524998 = 0.085 </a:t>
            </a:r>
            <a:endParaRPr sz="1550"/>
          </a:p>
          <a:p>
            <a:pPr indent="-327025" lvl="0" marL="457200" rtl="0" algn="l">
              <a:spcBef>
                <a:spcPts val="0"/>
              </a:spcBef>
              <a:spcAft>
                <a:spcPts val="0"/>
              </a:spcAft>
              <a:buSzPts val="1550"/>
              <a:buChar char="●"/>
            </a:pPr>
            <a:r>
              <a:rPr lang="en" sz="1550"/>
              <a:t>Sensitivity = 93.0%</a:t>
            </a:r>
            <a:endParaRPr sz="1550"/>
          </a:p>
          <a:p>
            <a:pPr indent="-327025" lvl="0" marL="457200" rtl="0" algn="l">
              <a:spcBef>
                <a:spcPts val="0"/>
              </a:spcBef>
              <a:spcAft>
                <a:spcPts val="0"/>
              </a:spcAft>
              <a:buSzPts val="1550"/>
              <a:buChar char="●"/>
            </a:pPr>
            <a:r>
              <a:rPr lang="en" sz="1550"/>
              <a:t>Specificity = 72.2%</a:t>
            </a:r>
            <a:endParaRPr sz="1550"/>
          </a:p>
          <a:p>
            <a:pPr indent="-327025" lvl="0" marL="457200" marR="0" rtl="0" algn="l">
              <a:spcBef>
                <a:spcPts val="0"/>
              </a:spcBef>
              <a:spcAft>
                <a:spcPts val="0"/>
              </a:spcAft>
              <a:buSzPts val="1550"/>
              <a:buChar char="●"/>
            </a:pPr>
            <a:r>
              <a:rPr lang="en" sz="1550"/>
              <a:t>8.5% of responses were </a:t>
            </a:r>
            <a:endParaRPr sz="1550"/>
          </a:p>
          <a:p>
            <a:pPr indent="0" lvl="0" marL="457200" marR="0" rtl="0" algn="l">
              <a:spcBef>
                <a:spcPts val="0"/>
              </a:spcBef>
              <a:spcAft>
                <a:spcPts val="0"/>
              </a:spcAft>
              <a:buNone/>
            </a:pPr>
            <a:r>
              <a:rPr lang="en" sz="1550"/>
              <a:t>incorrectly predicted</a:t>
            </a:r>
            <a:endParaRPr sz="1550"/>
          </a:p>
          <a:p>
            <a:pPr indent="-327025" lvl="0" marL="457200" marR="0" rtl="0" algn="l">
              <a:spcBef>
                <a:spcPts val="0"/>
              </a:spcBef>
              <a:spcAft>
                <a:spcPts val="0"/>
              </a:spcAft>
              <a:buSzPts val="1550"/>
              <a:buChar char="●"/>
            </a:pPr>
            <a:r>
              <a:rPr lang="en" sz="1550"/>
              <a:t>Very good at predicting if </a:t>
            </a:r>
            <a:endParaRPr sz="1550"/>
          </a:p>
          <a:p>
            <a:pPr indent="0" lvl="0" marL="0" marR="0" rtl="0" algn="l">
              <a:spcBef>
                <a:spcPts val="0"/>
              </a:spcBef>
              <a:spcAft>
                <a:spcPts val="0"/>
              </a:spcAft>
              <a:buNone/>
            </a:pPr>
            <a:r>
              <a:rPr lang="en" sz="1550"/>
              <a:t>         patients lived</a:t>
            </a:r>
            <a:endParaRPr sz="1550"/>
          </a:p>
        </p:txBody>
      </p:sp>
      <p:pic>
        <p:nvPicPr>
          <p:cNvPr id="146" name="Google Shape;146;p26"/>
          <p:cNvPicPr preferRelativeResize="0"/>
          <p:nvPr/>
        </p:nvPicPr>
        <p:blipFill>
          <a:blip r:embed="rId3">
            <a:alphaModFix/>
          </a:blip>
          <a:stretch>
            <a:fillRect/>
          </a:stretch>
        </p:blipFill>
        <p:spPr>
          <a:xfrm>
            <a:off x="3784050" y="1152475"/>
            <a:ext cx="5048250" cy="2162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Exhaustive CHAID ASE</a:t>
            </a:r>
            <a:endParaRPr/>
          </a:p>
        </p:txBody>
      </p:sp>
      <p:sp>
        <p:nvSpPr>
          <p:cNvPr id="152" name="Google Shape;152;p27"/>
          <p:cNvSpPr txBox="1"/>
          <p:nvPr>
            <p:ph idx="1" type="body"/>
          </p:nvPr>
        </p:nvSpPr>
        <p:spPr>
          <a:xfrm>
            <a:off x="311700" y="1152475"/>
            <a:ext cx="3732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Node 11 was predicted with the least accuracy</a:t>
            </a:r>
            <a:endParaRPr/>
          </a:p>
          <a:p>
            <a:pPr indent="-342900" lvl="0" marL="457200" rtl="0" algn="l">
              <a:spcBef>
                <a:spcPts val="0"/>
              </a:spcBef>
              <a:spcAft>
                <a:spcPts val="0"/>
              </a:spcAft>
              <a:buSzPts val="1800"/>
              <a:buChar char="●"/>
            </a:pPr>
            <a:r>
              <a:rPr lang="en"/>
              <a:t>Node 13 was predicted with the most accuracy</a:t>
            </a:r>
            <a:endParaRPr/>
          </a:p>
          <a:p>
            <a:pPr indent="-342900" lvl="0" marL="457200" rtl="0" algn="l">
              <a:spcBef>
                <a:spcPts val="0"/>
              </a:spcBef>
              <a:spcAft>
                <a:spcPts val="0"/>
              </a:spcAft>
              <a:buSzPts val="1800"/>
              <a:buChar char="●"/>
            </a:pPr>
            <a:r>
              <a:rPr lang="en"/>
              <a:t>Overall ASE for the testing set is 0.0413</a:t>
            </a:r>
            <a:endParaRPr/>
          </a:p>
          <a:p>
            <a:pPr indent="-342900" lvl="0" marL="457200" rtl="0" algn="l">
              <a:spcBef>
                <a:spcPts val="0"/>
              </a:spcBef>
              <a:spcAft>
                <a:spcPts val="0"/>
              </a:spcAft>
              <a:buSzPts val="1800"/>
              <a:buChar char="●"/>
            </a:pPr>
            <a:r>
              <a:rPr lang="en"/>
              <a:t>Does not appear to be overfitting</a:t>
            </a:r>
            <a:endParaRPr/>
          </a:p>
        </p:txBody>
      </p:sp>
      <p:pic>
        <p:nvPicPr>
          <p:cNvPr id="153" name="Google Shape;153;p27"/>
          <p:cNvPicPr preferRelativeResize="0"/>
          <p:nvPr/>
        </p:nvPicPr>
        <p:blipFill>
          <a:blip r:embed="rId3">
            <a:alphaModFix/>
          </a:blip>
          <a:stretch>
            <a:fillRect/>
          </a:stretch>
        </p:blipFill>
        <p:spPr>
          <a:xfrm>
            <a:off x="4087550" y="1152488"/>
            <a:ext cx="2324100" cy="2943225"/>
          </a:xfrm>
          <a:prstGeom prst="rect">
            <a:avLst/>
          </a:prstGeom>
          <a:noFill/>
          <a:ln>
            <a:noFill/>
          </a:ln>
        </p:spPr>
      </p:pic>
      <p:pic>
        <p:nvPicPr>
          <p:cNvPr id="154" name="Google Shape;154;p27"/>
          <p:cNvPicPr preferRelativeResize="0"/>
          <p:nvPr/>
        </p:nvPicPr>
        <p:blipFill>
          <a:blip r:embed="rId4">
            <a:alphaModFix/>
          </a:blip>
          <a:stretch>
            <a:fillRect/>
          </a:stretch>
        </p:blipFill>
        <p:spPr>
          <a:xfrm>
            <a:off x="6411650" y="1147725"/>
            <a:ext cx="2409825" cy="2952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CART Model Summary</a:t>
            </a:r>
            <a:endParaRPr/>
          </a:p>
        </p:txBody>
      </p:sp>
      <p:sp>
        <p:nvSpPr>
          <p:cNvPr id="160" name="Google Shape;160;p28"/>
          <p:cNvSpPr txBox="1"/>
          <p:nvPr>
            <p:ph idx="1" type="body"/>
          </p:nvPr>
        </p:nvSpPr>
        <p:spPr>
          <a:xfrm>
            <a:off x="311700" y="1152475"/>
            <a:ext cx="61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Included all variables</a:t>
            </a:r>
            <a:endParaRPr/>
          </a:p>
          <a:p>
            <a:pPr indent="-342900" lvl="0" marL="457200" rtl="0" algn="l">
              <a:spcBef>
                <a:spcPts val="0"/>
              </a:spcBef>
              <a:spcAft>
                <a:spcPts val="0"/>
              </a:spcAft>
              <a:buSzPts val="1800"/>
              <a:buChar char="●"/>
            </a:pPr>
            <a:r>
              <a:rPr lang="en"/>
              <a:t>9 were used in the final model</a:t>
            </a:r>
            <a:endParaRPr/>
          </a:p>
          <a:p>
            <a:pPr indent="-342900" lvl="0" marL="457200" rtl="0" algn="l">
              <a:spcBef>
                <a:spcPts val="0"/>
              </a:spcBef>
              <a:spcAft>
                <a:spcPts val="0"/>
              </a:spcAft>
              <a:buSzPts val="1800"/>
              <a:buChar char="●"/>
            </a:pPr>
            <a:r>
              <a:rPr lang="en"/>
              <a:t>Best maximum parent node size: 2,000</a:t>
            </a:r>
            <a:endParaRPr/>
          </a:p>
          <a:p>
            <a:pPr indent="-342900" lvl="0" marL="457200" rtl="0" algn="l">
              <a:spcBef>
                <a:spcPts val="0"/>
              </a:spcBef>
              <a:spcAft>
                <a:spcPts val="0"/>
              </a:spcAft>
              <a:buSzPts val="1800"/>
              <a:buChar char="●"/>
            </a:pPr>
            <a:r>
              <a:rPr lang="en"/>
              <a:t>Best maximum child node size: 1,000</a:t>
            </a:r>
            <a:endParaRPr/>
          </a:p>
          <a:p>
            <a:pPr indent="-342900" lvl="0" marL="457200" rtl="0" algn="l">
              <a:spcBef>
                <a:spcPts val="0"/>
              </a:spcBef>
              <a:spcAft>
                <a:spcPts val="0"/>
              </a:spcAft>
              <a:buSzPts val="1800"/>
              <a:buChar char="●"/>
            </a:pPr>
            <a:r>
              <a:rPr lang="en"/>
              <a:t>5 Nodes</a:t>
            </a:r>
            <a:endParaRPr/>
          </a:p>
          <a:p>
            <a:pPr indent="-342900" lvl="0" marL="457200" rtl="0" algn="l">
              <a:spcBef>
                <a:spcPts val="0"/>
              </a:spcBef>
              <a:spcAft>
                <a:spcPts val="0"/>
              </a:spcAft>
              <a:buSzPts val="1800"/>
              <a:buChar char="●"/>
            </a:pPr>
            <a:r>
              <a:rPr lang="en"/>
              <a:t>3 Terminal Nodes</a:t>
            </a:r>
            <a:endParaRPr/>
          </a:p>
          <a:p>
            <a:pPr indent="-342900" lvl="0" marL="457200" rtl="0" algn="l">
              <a:spcBef>
                <a:spcPts val="0"/>
              </a:spcBef>
              <a:spcAft>
                <a:spcPts val="0"/>
              </a:spcAft>
              <a:buSzPts val="1800"/>
              <a:buChar char="●"/>
            </a:pPr>
            <a:r>
              <a:rPr lang="en"/>
              <a:t>2 Levels</a:t>
            </a:r>
            <a:endParaRPr/>
          </a:p>
          <a:p>
            <a:pPr indent="0" lvl="0" marL="0" rtl="0" algn="l">
              <a:spcBef>
                <a:spcPts val="1200"/>
              </a:spcBef>
              <a:spcAft>
                <a:spcPts val="1200"/>
              </a:spcAft>
              <a:buNone/>
            </a:pPr>
            <a:r>
              <a:t/>
            </a:r>
            <a:endParaRPr/>
          </a:p>
        </p:txBody>
      </p:sp>
      <p:pic>
        <p:nvPicPr>
          <p:cNvPr id="161" name="Google Shape;161;p28"/>
          <p:cNvPicPr preferRelativeResize="0"/>
          <p:nvPr/>
        </p:nvPicPr>
        <p:blipFill>
          <a:blip r:embed="rId3">
            <a:alphaModFix/>
          </a:blip>
          <a:stretch>
            <a:fillRect/>
          </a:stretch>
        </p:blipFill>
        <p:spPr>
          <a:xfrm>
            <a:off x="6479375" y="270850"/>
            <a:ext cx="2352925" cy="2870550"/>
          </a:xfrm>
          <a:prstGeom prst="rect">
            <a:avLst/>
          </a:prstGeom>
          <a:noFill/>
          <a:ln>
            <a:noFill/>
          </a:ln>
        </p:spPr>
      </p:pic>
      <p:pic>
        <p:nvPicPr>
          <p:cNvPr id="162" name="Google Shape;162;p28"/>
          <p:cNvPicPr preferRelativeResize="0"/>
          <p:nvPr/>
        </p:nvPicPr>
        <p:blipFill>
          <a:blip r:embed="rId4">
            <a:alphaModFix/>
          </a:blip>
          <a:stretch>
            <a:fillRect/>
          </a:stretch>
        </p:blipFill>
        <p:spPr>
          <a:xfrm>
            <a:off x="6479375" y="3141400"/>
            <a:ext cx="2352925" cy="172049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CART Decision Tree</a:t>
            </a:r>
            <a:endParaRPr/>
          </a:p>
        </p:txBody>
      </p:sp>
      <p:pic>
        <p:nvPicPr>
          <p:cNvPr id="168" name="Google Shape;168;p29"/>
          <p:cNvPicPr preferRelativeResize="0"/>
          <p:nvPr/>
        </p:nvPicPr>
        <p:blipFill>
          <a:blip r:embed="rId3">
            <a:alphaModFix/>
          </a:blip>
          <a:stretch>
            <a:fillRect/>
          </a:stretch>
        </p:blipFill>
        <p:spPr>
          <a:xfrm>
            <a:off x="2793125" y="1017725"/>
            <a:ext cx="3389775" cy="4024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CART Story</a:t>
            </a:r>
            <a:endParaRPr/>
          </a:p>
        </p:txBody>
      </p:sp>
      <p:sp>
        <p:nvSpPr>
          <p:cNvPr id="174" name="Google Shape;174;p30"/>
          <p:cNvSpPr txBox="1"/>
          <p:nvPr>
            <p:ph idx="1" type="body"/>
          </p:nvPr>
        </p:nvSpPr>
        <p:spPr>
          <a:xfrm>
            <a:off x="311700" y="1116375"/>
            <a:ext cx="7768500" cy="3765300"/>
          </a:xfrm>
          <a:prstGeom prst="rect">
            <a:avLst/>
          </a:prstGeom>
        </p:spPr>
        <p:txBody>
          <a:bodyPr anchorCtr="0" anchor="t" bIns="91425" lIns="91425" spcFirstLastPara="1" rIns="91425" wrap="square" tIns="91425">
            <a:normAutofit/>
          </a:bodyPr>
          <a:lstStyle/>
          <a:p>
            <a:pPr indent="-330200" lvl="0" marL="457200" marR="0" rtl="0" algn="l">
              <a:spcBef>
                <a:spcPts val="0"/>
              </a:spcBef>
              <a:spcAft>
                <a:spcPts val="0"/>
              </a:spcAft>
              <a:buSzPts val="1600"/>
              <a:buChar char="●"/>
            </a:pPr>
            <a:r>
              <a:rPr lang="en" sz="1600"/>
              <a:t>People who were most likely to live were those who were sent home upon receiving care, with 99.2% of them living</a:t>
            </a:r>
            <a:endParaRPr sz="1600"/>
          </a:p>
          <a:p>
            <a:pPr indent="-330200" lvl="0" marL="457200" marR="0" rtl="0" algn="l">
              <a:spcBef>
                <a:spcPts val="0"/>
              </a:spcBef>
              <a:spcAft>
                <a:spcPts val="0"/>
              </a:spcAft>
              <a:buSzPts val="1600"/>
              <a:buChar char="●"/>
            </a:pPr>
            <a:r>
              <a:rPr lang="en" sz="1600"/>
              <a:t>People who were next most likely to live were those who were hospitalized and not connected to the ventilator, with 73.7% of them living</a:t>
            </a:r>
            <a:endParaRPr sz="1600"/>
          </a:p>
          <a:p>
            <a:pPr indent="-330200" lvl="0" marL="457200" marR="0" rtl="0" algn="l">
              <a:spcBef>
                <a:spcPts val="0"/>
              </a:spcBef>
              <a:spcAft>
                <a:spcPts val="0"/>
              </a:spcAft>
              <a:buSzPts val="1600"/>
              <a:buChar char="●"/>
            </a:pPr>
            <a:r>
              <a:rPr lang="en" sz="1600"/>
              <a:t>People who were most likely to die were those who were hospitalized and connected to the ventilator, with 78.1% of them dying</a:t>
            </a:r>
            <a:endParaRPr sz="1600"/>
          </a:p>
          <a:p>
            <a:pPr indent="0" lvl="0" marL="457200" rtl="0" algn="l">
              <a:spcBef>
                <a:spcPts val="0"/>
              </a:spcBef>
              <a:spcAft>
                <a:spcPts val="0"/>
              </a:spcAft>
              <a:buClr>
                <a:schemeClr val="dk1"/>
              </a:buClr>
              <a:buSzPts val="1100"/>
              <a:buFont typeface="Arial"/>
              <a:buNone/>
            </a:pPr>
            <a:r>
              <a:t/>
            </a:r>
            <a:endParaRPr sz="1600"/>
          </a:p>
          <a:p>
            <a:pPr indent="0" lvl="0" marL="0" marR="0" rtl="0" algn="l">
              <a:spcBef>
                <a:spcPts val="1200"/>
              </a:spcBef>
              <a:spcAft>
                <a:spcPts val="0"/>
              </a:spcAft>
              <a:buNone/>
            </a:pPr>
            <a:r>
              <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CART Risk, Sensitivity, Specificity</a:t>
            </a:r>
            <a:endParaRPr/>
          </a:p>
        </p:txBody>
      </p:sp>
      <p:sp>
        <p:nvSpPr>
          <p:cNvPr id="180" name="Google Shape;180;p31"/>
          <p:cNvSpPr txBox="1"/>
          <p:nvPr>
            <p:ph idx="1" type="body"/>
          </p:nvPr>
        </p:nvSpPr>
        <p:spPr>
          <a:xfrm>
            <a:off x="311700" y="1152475"/>
            <a:ext cx="3347700" cy="3416400"/>
          </a:xfrm>
          <a:prstGeom prst="rect">
            <a:avLst/>
          </a:prstGeom>
        </p:spPr>
        <p:txBody>
          <a:bodyPr anchorCtr="0" anchor="t" bIns="91425" lIns="91425" spcFirstLastPara="1" rIns="91425" wrap="square" tIns="91425">
            <a:normAutofit/>
          </a:bodyPr>
          <a:lstStyle/>
          <a:p>
            <a:pPr indent="-327025" lvl="0" marL="457200" rtl="0" algn="l">
              <a:spcBef>
                <a:spcPts val="0"/>
              </a:spcBef>
              <a:spcAft>
                <a:spcPts val="0"/>
              </a:spcAft>
              <a:buSzPts val="1550"/>
              <a:buChar char="●"/>
            </a:pPr>
            <a:r>
              <a:rPr lang="en" sz="1550"/>
              <a:t>Risk = 68472/524998 = 0.130 </a:t>
            </a:r>
            <a:endParaRPr sz="1550"/>
          </a:p>
          <a:p>
            <a:pPr indent="-327025" lvl="0" marL="457200" rtl="0" algn="l">
              <a:spcBef>
                <a:spcPts val="0"/>
              </a:spcBef>
              <a:spcAft>
                <a:spcPts val="0"/>
              </a:spcAft>
              <a:buSzPts val="1550"/>
              <a:buChar char="●"/>
            </a:pPr>
            <a:r>
              <a:rPr lang="en" sz="1550"/>
              <a:t>Sensitivity = 86.6%</a:t>
            </a:r>
            <a:endParaRPr sz="1550"/>
          </a:p>
          <a:p>
            <a:pPr indent="-327025" lvl="0" marL="457200" rtl="0" algn="l">
              <a:spcBef>
                <a:spcPts val="0"/>
              </a:spcBef>
              <a:spcAft>
                <a:spcPts val="0"/>
              </a:spcAft>
              <a:buSzPts val="1550"/>
              <a:buChar char="●"/>
            </a:pPr>
            <a:r>
              <a:rPr lang="en" sz="1550"/>
              <a:t>Specificity = 91.0%</a:t>
            </a:r>
            <a:endParaRPr sz="1550"/>
          </a:p>
          <a:p>
            <a:pPr indent="-327025" lvl="0" marL="457200" marR="0" rtl="0" algn="l">
              <a:spcBef>
                <a:spcPts val="0"/>
              </a:spcBef>
              <a:spcAft>
                <a:spcPts val="0"/>
              </a:spcAft>
              <a:buSzPts val="1550"/>
              <a:buChar char="●"/>
            </a:pPr>
            <a:r>
              <a:rPr lang="en" sz="1550"/>
              <a:t>13.0% of responses were </a:t>
            </a:r>
            <a:endParaRPr sz="1550"/>
          </a:p>
          <a:p>
            <a:pPr indent="0" lvl="0" marL="457200" marR="0" rtl="0" algn="l">
              <a:spcBef>
                <a:spcPts val="0"/>
              </a:spcBef>
              <a:spcAft>
                <a:spcPts val="0"/>
              </a:spcAft>
              <a:buClr>
                <a:schemeClr val="dk1"/>
              </a:buClr>
              <a:buSzPts val="1100"/>
              <a:buFont typeface="Arial"/>
              <a:buNone/>
            </a:pPr>
            <a:r>
              <a:rPr lang="en" sz="1550"/>
              <a:t>incorrectly predicted</a:t>
            </a:r>
            <a:endParaRPr sz="1550"/>
          </a:p>
          <a:p>
            <a:pPr indent="-327025" lvl="0" marL="457200" marR="0" rtl="0" algn="l">
              <a:spcBef>
                <a:spcPts val="0"/>
              </a:spcBef>
              <a:spcAft>
                <a:spcPts val="0"/>
              </a:spcAft>
              <a:buSzPts val="1550"/>
              <a:buChar char="●"/>
            </a:pPr>
            <a:r>
              <a:rPr lang="en" sz="1550"/>
              <a:t>Very good at predicting if </a:t>
            </a:r>
            <a:endParaRPr sz="1550"/>
          </a:p>
          <a:p>
            <a:pPr indent="0" lvl="0" marL="0" marR="0" rtl="0" algn="l">
              <a:spcBef>
                <a:spcPts val="0"/>
              </a:spcBef>
              <a:spcAft>
                <a:spcPts val="0"/>
              </a:spcAft>
              <a:buNone/>
            </a:pPr>
            <a:r>
              <a:rPr lang="en" sz="1550"/>
              <a:t>         patients lived and if patients</a:t>
            </a:r>
            <a:endParaRPr sz="1550"/>
          </a:p>
          <a:p>
            <a:pPr indent="0" lvl="0" marL="0" marR="0" rtl="0" algn="l">
              <a:spcBef>
                <a:spcPts val="0"/>
              </a:spcBef>
              <a:spcAft>
                <a:spcPts val="0"/>
              </a:spcAft>
              <a:buClr>
                <a:schemeClr val="dk1"/>
              </a:buClr>
              <a:buSzPts val="1100"/>
              <a:buFont typeface="Arial"/>
              <a:buNone/>
            </a:pPr>
            <a:r>
              <a:rPr lang="en" sz="1550"/>
              <a:t>         died</a:t>
            </a:r>
            <a:endParaRPr sz="1550"/>
          </a:p>
          <a:p>
            <a:pPr indent="0" lvl="0" marL="0" rtl="0" algn="l">
              <a:spcBef>
                <a:spcPts val="0"/>
              </a:spcBef>
              <a:spcAft>
                <a:spcPts val="1200"/>
              </a:spcAft>
              <a:buNone/>
            </a:pPr>
            <a:r>
              <a:t/>
            </a:r>
            <a:endParaRPr/>
          </a:p>
        </p:txBody>
      </p:sp>
      <p:pic>
        <p:nvPicPr>
          <p:cNvPr id="181" name="Google Shape;181;p31"/>
          <p:cNvPicPr preferRelativeResize="0"/>
          <p:nvPr/>
        </p:nvPicPr>
        <p:blipFill>
          <a:blip r:embed="rId3">
            <a:alphaModFix/>
          </a:blip>
          <a:stretch>
            <a:fillRect/>
          </a:stretch>
        </p:blipFill>
        <p:spPr>
          <a:xfrm>
            <a:off x="3717375" y="1152475"/>
            <a:ext cx="5114925" cy="2057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CART ASE</a:t>
            </a:r>
            <a:endParaRPr/>
          </a:p>
        </p:txBody>
      </p:sp>
      <p:sp>
        <p:nvSpPr>
          <p:cNvPr id="187" name="Google Shape;187;p32"/>
          <p:cNvSpPr txBox="1"/>
          <p:nvPr>
            <p:ph idx="1" type="body"/>
          </p:nvPr>
        </p:nvSpPr>
        <p:spPr>
          <a:xfrm>
            <a:off x="311700" y="1152475"/>
            <a:ext cx="3358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Node 4 was predicted with the least accuracy</a:t>
            </a:r>
            <a:endParaRPr/>
          </a:p>
          <a:p>
            <a:pPr indent="-342900" lvl="0" marL="457200" rtl="0" algn="l">
              <a:spcBef>
                <a:spcPts val="0"/>
              </a:spcBef>
              <a:spcAft>
                <a:spcPts val="0"/>
              </a:spcAft>
              <a:buSzPts val="1800"/>
              <a:buChar char="●"/>
            </a:pPr>
            <a:r>
              <a:rPr lang="en"/>
              <a:t>Node 2 was predicted with the most accuracy</a:t>
            </a:r>
            <a:endParaRPr/>
          </a:p>
          <a:p>
            <a:pPr indent="-342900" lvl="0" marL="457200" rtl="0" algn="l">
              <a:spcBef>
                <a:spcPts val="0"/>
              </a:spcBef>
              <a:spcAft>
                <a:spcPts val="0"/>
              </a:spcAft>
              <a:buSzPts val="1800"/>
              <a:buChar char="●"/>
            </a:pPr>
            <a:r>
              <a:rPr lang="en"/>
              <a:t>Overall ASE for the testing set is 0.0426</a:t>
            </a:r>
            <a:endParaRPr/>
          </a:p>
          <a:p>
            <a:pPr indent="-342900" lvl="0" marL="457200" rtl="0" algn="l">
              <a:spcBef>
                <a:spcPts val="0"/>
              </a:spcBef>
              <a:spcAft>
                <a:spcPts val="0"/>
              </a:spcAft>
              <a:buSzPts val="1800"/>
              <a:buChar char="●"/>
            </a:pPr>
            <a:r>
              <a:rPr lang="en"/>
              <a:t>Does not appear to be overfitting</a:t>
            </a:r>
            <a:endParaRPr/>
          </a:p>
          <a:p>
            <a:pPr indent="0" lvl="0" marL="0" rtl="0" algn="l">
              <a:spcBef>
                <a:spcPts val="1200"/>
              </a:spcBef>
              <a:spcAft>
                <a:spcPts val="1200"/>
              </a:spcAft>
              <a:buNone/>
            </a:pPr>
            <a:r>
              <a:t/>
            </a:r>
            <a:endParaRPr/>
          </a:p>
        </p:txBody>
      </p:sp>
      <p:pic>
        <p:nvPicPr>
          <p:cNvPr id="188" name="Google Shape;188;p32"/>
          <p:cNvPicPr preferRelativeResize="0"/>
          <p:nvPr/>
        </p:nvPicPr>
        <p:blipFill>
          <a:blip r:embed="rId3">
            <a:alphaModFix/>
          </a:blip>
          <a:stretch>
            <a:fillRect/>
          </a:stretch>
        </p:blipFill>
        <p:spPr>
          <a:xfrm>
            <a:off x="3870375" y="1152475"/>
            <a:ext cx="2576525" cy="2119225"/>
          </a:xfrm>
          <a:prstGeom prst="rect">
            <a:avLst/>
          </a:prstGeom>
          <a:noFill/>
          <a:ln>
            <a:noFill/>
          </a:ln>
        </p:spPr>
      </p:pic>
      <p:pic>
        <p:nvPicPr>
          <p:cNvPr id="189" name="Google Shape;189;p32"/>
          <p:cNvPicPr preferRelativeResize="0"/>
          <p:nvPr/>
        </p:nvPicPr>
        <p:blipFill>
          <a:blip r:embed="rId4">
            <a:alphaModFix/>
          </a:blip>
          <a:stretch>
            <a:fillRect/>
          </a:stretch>
        </p:blipFill>
        <p:spPr>
          <a:xfrm>
            <a:off x="6446900" y="1152475"/>
            <a:ext cx="2385408" cy="2119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a:t>
            </a:r>
            <a:endParaRPr/>
          </a:p>
        </p:txBody>
      </p:sp>
      <p:sp>
        <p:nvSpPr>
          <p:cNvPr id="195" name="Google Shape;19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marR="0" rtl="0" algn="l">
              <a:spcBef>
                <a:spcPts val="0"/>
              </a:spcBef>
              <a:spcAft>
                <a:spcPts val="0"/>
              </a:spcAft>
              <a:buSzPts val="1500"/>
              <a:buChar char="●"/>
            </a:pPr>
            <a:r>
              <a:rPr lang="en" sz="1500"/>
              <a:t>The total number of steps in the full logistic regression was 17</a:t>
            </a:r>
            <a:endParaRPr sz="1500"/>
          </a:p>
          <a:p>
            <a:pPr indent="-323850" lvl="0" marL="457200" marR="0" rtl="0" algn="l">
              <a:spcBef>
                <a:spcPts val="0"/>
              </a:spcBef>
              <a:spcAft>
                <a:spcPts val="0"/>
              </a:spcAft>
              <a:buSzPts val="1500"/>
              <a:buChar char="●"/>
            </a:pPr>
            <a:r>
              <a:rPr lang="en" sz="1500"/>
              <a:t>We decided to cut off the logistic regression at a step where the data stopped improving </a:t>
            </a:r>
            <a:endParaRPr sz="1500"/>
          </a:p>
          <a:p>
            <a:pPr indent="-323850" lvl="0" marL="457200" marR="0" rtl="0" algn="l">
              <a:spcBef>
                <a:spcPts val="0"/>
              </a:spcBef>
              <a:spcAft>
                <a:spcPts val="0"/>
              </a:spcAft>
              <a:buSzPts val="1500"/>
              <a:buChar char="●"/>
            </a:pPr>
            <a:r>
              <a:rPr lang="en" sz="1500"/>
              <a:t>Stopped after 3 steps with the Wald method, and then switched to the enter method </a:t>
            </a:r>
            <a:endParaRPr sz="1500"/>
          </a:p>
          <a:p>
            <a:pPr indent="-323850" lvl="0" marL="457200" marR="0" rtl="0" algn="l">
              <a:spcBef>
                <a:spcPts val="0"/>
              </a:spcBef>
              <a:spcAft>
                <a:spcPts val="0"/>
              </a:spcAft>
              <a:buSzPts val="1500"/>
              <a:buChar char="●"/>
            </a:pPr>
            <a:r>
              <a:rPr lang="en" sz="1500"/>
              <a:t>The three variables ended up being an indication if the patient was connected to the ventilator,    an indication if the patient had pneumonia, and the age of the patient</a:t>
            </a:r>
            <a:endParaRPr sz="1500"/>
          </a:p>
          <a:p>
            <a:pPr indent="-323850" lvl="0" marL="457200" marR="0" rtl="0" algn="l">
              <a:spcBef>
                <a:spcPts val="0"/>
              </a:spcBef>
              <a:spcAft>
                <a:spcPts val="0"/>
              </a:spcAft>
              <a:buSzPts val="1500"/>
              <a:buChar char="●"/>
            </a:pPr>
            <a:r>
              <a:rPr lang="en" sz="1500"/>
              <a:t>At this step, based on the Wald method, the sensitivity is 93%, the specificity is 42.8%, and the overall correct is 77.4% </a:t>
            </a:r>
            <a:endParaRPr sz="1500"/>
          </a:p>
          <a:p>
            <a:pPr indent="-323850" lvl="0" marL="457200" marR="0" rtl="0" algn="l">
              <a:spcBef>
                <a:spcPts val="0"/>
              </a:spcBef>
              <a:spcAft>
                <a:spcPts val="0"/>
              </a:spcAft>
              <a:buSzPts val="1500"/>
              <a:buChar char="●"/>
            </a:pPr>
            <a:r>
              <a:rPr lang="en" sz="1500"/>
              <a:t>The best these become throughout all of the steps is 95% for the sensitivity, 45.5% for the specificity, and 77.9% for the overall, so the step three results are not that far off from the best possible </a:t>
            </a:r>
            <a:endParaRPr sz="1500"/>
          </a:p>
          <a:p>
            <a:pPr indent="0" lvl="0" marL="45720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a:t>
            </a:r>
            <a:r>
              <a:rPr lang="en"/>
              <a:t> Regression Model Summary</a:t>
            </a:r>
            <a:endParaRPr/>
          </a:p>
        </p:txBody>
      </p:sp>
      <p:sp>
        <p:nvSpPr>
          <p:cNvPr id="201" name="Google Shape;201;p34"/>
          <p:cNvSpPr txBox="1"/>
          <p:nvPr>
            <p:ph idx="1" type="body"/>
          </p:nvPr>
        </p:nvSpPr>
        <p:spPr>
          <a:xfrm>
            <a:off x="311700" y="1152475"/>
            <a:ext cx="24921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Wald Method first</a:t>
            </a:r>
            <a:endParaRPr sz="1500"/>
          </a:p>
          <a:p>
            <a:pPr indent="-323850" lvl="0" marL="457200" rtl="0" algn="l">
              <a:spcBef>
                <a:spcPts val="0"/>
              </a:spcBef>
              <a:spcAft>
                <a:spcPts val="0"/>
              </a:spcAft>
              <a:buSzPts val="1500"/>
              <a:buChar char="●"/>
            </a:pPr>
            <a:r>
              <a:rPr lang="en" sz="1500"/>
              <a:t>Variables ordered by highest Wald statistic</a:t>
            </a:r>
            <a:endParaRPr sz="1500"/>
          </a:p>
          <a:p>
            <a:pPr indent="-323850" lvl="0" marL="457200" rtl="0" algn="l">
              <a:spcBef>
                <a:spcPts val="0"/>
              </a:spcBef>
              <a:spcAft>
                <a:spcPts val="0"/>
              </a:spcAft>
              <a:buSzPts val="1500"/>
              <a:buChar char="●"/>
            </a:pPr>
            <a:r>
              <a:rPr lang="en" sz="1500"/>
              <a:t>Found best step </a:t>
            </a:r>
            <a:r>
              <a:rPr lang="en" sz="1500"/>
              <a:t>where</a:t>
            </a:r>
            <a:r>
              <a:rPr lang="en" sz="1500"/>
              <a:t> model stopped greatly improving</a:t>
            </a:r>
            <a:endParaRPr sz="1500"/>
          </a:p>
          <a:p>
            <a:pPr indent="-323850" lvl="0" marL="457200" rtl="0" algn="l">
              <a:spcBef>
                <a:spcPts val="0"/>
              </a:spcBef>
              <a:spcAft>
                <a:spcPts val="0"/>
              </a:spcAft>
              <a:buSzPts val="1500"/>
              <a:buChar char="●"/>
            </a:pPr>
            <a:r>
              <a:rPr lang="en" sz="1500"/>
              <a:t>Enter Method</a:t>
            </a:r>
            <a:endParaRPr sz="1500"/>
          </a:p>
          <a:p>
            <a:pPr indent="-323850" lvl="0" marL="457200" rtl="0" algn="l">
              <a:spcBef>
                <a:spcPts val="0"/>
              </a:spcBef>
              <a:spcAft>
                <a:spcPts val="0"/>
              </a:spcAft>
              <a:buSzPts val="1500"/>
              <a:buChar char="●"/>
            </a:pPr>
            <a:r>
              <a:rPr lang="en" sz="1500"/>
              <a:t>3 variables</a:t>
            </a:r>
            <a:endParaRPr sz="1500"/>
          </a:p>
          <a:p>
            <a:pPr indent="0" lvl="0" marL="0" rtl="0" algn="l">
              <a:spcBef>
                <a:spcPts val="1200"/>
              </a:spcBef>
              <a:spcAft>
                <a:spcPts val="1200"/>
              </a:spcAft>
              <a:buNone/>
            </a:pPr>
            <a:r>
              <a:t/>
            </a:r>
            <a:endParaRPr/>
          </a:p>
        </p:txBody>
      </p:sp>
      <p:pic>
        <p:nvPicPr>
          <p:cNvPr id="202" name="Google Shape;202;p34"/>
          <p:cNvPicPr preferRelativeResize="0"/>
          <p:nvPr/>
        </p:nvPicPr>
        <p:blipFill>
          <a:blip r:embed="rId3">
            <a:alphaModFix/>
          </a:blip>
          <a:stretch>
            <a:fillRect/>
          </a:stretch>
        </p:blipFill>
        <p:spPr>
          <a:xfrm>
            <a:off x="2888700" y="1152475"/>
            <a:ext cx="5943600" cy="1704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Logistic Regression Story</a:t>
            </a:r>
            <a:endParaRPr/>
          </a:p>
          <a:p>
            <a:pPr indent="0" lvl="0" marL="0" rtl="0" algn="l">
              <a:spcBef>
                <a:spcPts val="0"/>
              </a:spcBef>
              <a:spcAft>
                <a:spcPts val="0"/>
              </a:spcAft>
              <a:buNone/>
            </a:pPr>
            <a:r>
              <a:t/>
            </a:r>
            <a:endParaRPr/>
          </a:p>
        </p:txBody>
      </p:sp>
      <p:sp>
        <p:nvSpPr>
          <p:cNvPr id="208" name="Google Shape;208;p35"/>
          <p:cNvSpPr txBox="1"/>
          <p:nvPr>
            <p:ph idx="1" type="body"/>
          </p:nvPr>
        </p:nvSpPr>
        <p:spPr>
          <a:xfrm>
            <a:off x="311700" y="1116375"/>
            <a:ext cx="7768500" cy="3753900"/>
          </a:xfrm>
          <a:prstGeom prst="rect">
            <a:avLst/>
          </a:prstGeom>
        </p:spPr>
        <p:txBody>
          <a:bodyPr anchorCtr="0" anchor="t" bIns="91425" lIns="91425" spcFirstLastPara="1" rIns="91425" wrap="square" tIns="91425">
            <a:normAutofit/>
          </a:bodyPr>
          <a:lstStyle/>
          <a:p>
            <a:pPr indent="-330200" lvl="0" marL="457200" marR="0" rtl="0" algn="l">
              <a:spcBef>
                <a:spcPts val="0"/>
              </a:spcBef>
              <a:spcAft>
                <a:spcPts val="0"/>
              </a:spcAft>
              <a:buSzPts val="1600"/>
              <a:buChar char="●"/>
            </a:pPr>
            <a:r>
              <a:rPr lang="en" sz="1600"/>
              <a:t>While adjusting for the other variables in the model, the predicted odds of living are 10 times greater for someone who is connected to the ventilator</a:t>
            </a:r>
            <a:endParaRPr sz="1600"/>
          </a:p>
          <a:p>
            <a:pPr indent="-330200" lvl="0" marL="457200" marR="0" rtl="0" algn="l">
              <a:spcBef>
                <a:spcPts val="0"/>
              </a:spcBef>
              <a:spcAft>
                <a:spcPts val="0"/>
              </a:spcAft>
              <a:buSzPts val="1600"/>
              <a:buChar char="●"/>
            </a:pPr>
            <a:r>
              <a:rPr lang="en" sz="1600"/>
              <a:t>While adjusting for the other variables in the model, the predicted odds of living increase by 84.3% if the patient has pneumonia</a:t>
            </a:r>
            <a:endParaRPr sz="1600"/>
          </a:p>
          <a:p>
            <a:pPr indent="-330200" lvl="0" marL="457200" marR="0" rtl="0" algn="l">
              <a:spcBef>
                <a:spcPts val="0"/>
              </a:spcBef>
              <a:spcAft>
                <a:spcPts val="0"/>
              </a:spcAft>
              <a:buSzPts val="1600"/>
              <a:buChar char="●"/>
            </a:pPr>
            <a:r>
              <a:rPr lang="en" sz="1600"/>
              <a:t>While adjusting for the other variables in the model, the predicted odds of living decrease by 3.9% for every 1 additional year in age</a:t>
            </a:r>
            <a:endParaRPr sz="1600"/>
          </a:p>
          <a:p>
            <a:pPr indent="0" lvl="0" marL="0" rtl="0" algn="l">
              <a:spcBef>
                <a:spcPts val="0"/>
              </a:spcBef>
              <a:spcAft>
                <a:spcPts val="0"/>
              </a:spcAft>
              <a:buClr>
                <a:schemeClr val="dk1"/>
              </a:buClr>
              <a:buSzPts val="1100"/>
              <a:buFont typeface="Arial"/>
              <a:buNone/>
            </a:pPr>
            <a:r>
              <a:t/>
            </a:r>
            <a:endParaRPr/>
          </a:p>
          <a:p>
            <a:pPr indent="0" lvl="0" marL="0" marR="0" rtl="0" algn="l">
              <a:spcBef>
                <a:spcPts val="1200"/>
              </a:spcBef>
              <a:spcAft>
                <a:spcPts val="0"/>
              </a:spcAft>
              <a:buNone/>
            </a:pPr>
            <a:r>
              <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Risk, Sensitivity, Specificity</a:t>
            </a:r>
            <a:endParaRPr/>
          </a:p>
        </p:txBody>
      </p:sp>
      <p:sp>
        <p:nvSpPr>
          <p:cNvPr id="214" name="Google Shape;214;p36"/>
          <p:cNvSpPr txBox="1"/>
          <p:nvPr>
            <p:ph idx="1" type="body"/>
          </p:nvPr>
        </p:nvSpPr>
        <p:spPr>
          <a:xfrm>
            <a:off x="311700" y="1152475"/>
            <a:ext cx="3700500" cy="3416400"/>
          </a:xfrm>
          <a:prstGeom prst="rect">
            <a:avLst/>
          </a:prstGeom>
        </p:spPr>
        <p:txBody>
          <a:bodyPr anchorCtr="0" anchor="t" bIns="91425" lIns="91425" spcFirstLastPara="1" rIns="91425" wrap="square" tIns="91425">
            <a:normAutofit/>
          </a:bodyPr>
          <a:lstStyle/>
          <a:p>
            <a:pPr indent="-327025" lvl="0" marL="457200" marR="0" rtl="0" algn="l">
              <a:spcBef>
                <a:spcPts val="0"/>
              </a:spcBef>
              <a:spcAft>
                <a:spcPts val="0"/>
              </a:spcAft>
              <a:buSzPts val="1550"/>
              <a:buChar char="●"/>
            </a:pPr>
            <a:r>
              <a:rPr lang="en" sz="1550"/>
              <a:t>Risk = 100 - 65.7 = 34.3%</a:t>
            </a:r>
            <a:endParaRPr sz="1550"/>
          </a:p>
          <a:p>
            <a:pPr indent="-327025" lvl="0" marL="457200" marR="0" rtl="0" algn="l">
              <a:spcBef>
                <a:spcPts val="0"/>
              </a:spcBef>
              <a:spcAft>
                <a:spcPts val="0"/>
              </a:spcAft>
              <a:buSzPts val="1550"/>
              <a:buChar char="●"/>
            </a:pPr>
            <a:r>
              <a:rPr lang="en" sz="1550"/>
              <a:t>Sensitivity = 56.2%</a:t>
            </a:r>
            <a:endParaRPr sz="1550"/>
          </a:p>
          <a:p>
            <a:pPr indent="-327025" lvl="0" marL="457200" marR="0" rtl="0" algn="l">
              <a:spcBef>
                <a:spcPts val="0"/>
              </a:spcBef>
              <a:spcAft>
                <a:spcPts val="0"/>
              </a:spcAft>
              <a:buSzPts val="1550"/>
              <a:buChar char="●"/>
            </a:pPr>
            <a:r>
              <a:rPr lang="en" sz="1550"/>
              <a:t>Specificity = 83.2%</a:t>
            </a:r>
            <a:endParaRPr sz="1550"/>
          </a:p>
          <a:p>
            <a:pPr indent="-327025" lvl="0" marL="457200" marR="0" rtl="0" algn="l">
              <a:spcBef>
                <a:spcPts val="0"/>
              </a:spcBef>
              <a:spcAft>
                <a:spcPts val="0"/>
              </a:spcAft>
              <a:buSzPts val="1550"/>
              <a:buChar char="●"/>
            </a:pPr>
            <a:r>
              <a:rPr lang="en" sz="1550"/>
              <a:t>34.3% of responses were </a:t>
            </a:r>
            <a:endParaRPr sz="1550"/>
          </a:p>
          <a:p>
            <a:pPr indent="0" lvl="0" marL="457200" marR="0" rtl="0" algn="l">
              <a:spcBef>
                <a:spcPts val="0"/>
              </a:spcBef>
              <a:spcAft>
                <a:spcPts val="0"/>
              </a:spcAft>
              <a:buClr>
                <a:schemeClr val="dk1"/>
              </a:buClr>
              <a:buSzPts val="1100"/>
              <a:buFont typeface="Arial"/>
              <a:buNone/>
            </a:pPr>
            <a:r>
              <a:rPr lang="en" sz="1550"/>
              <a:t>incorrectly predicted</a:t>
            </a:r>
            <a:endParaRPr sz="1550"/>
          </a:p>
          <a:p>
            <a:pPr indent="-327025" lvl="0" marL="457200" marR="0" rtl="0" algn="l">
              <a:spcBef>
                <a:spcPts val="0"/>
              </a:spcBef>
              <a:spcAft>
                <a:spcPts val="0"/>
              </a:spcAft>
              <a:buSzPts val="1550"/>
              <a:buChar char="●"/>
            </a:pPr>
            <a:r>
              <a:rPr lang="en" sz="1550"/>
              <a:t>Good at predicting if </a:t>
            </a:r>
            <a:endParaRPr sz="1550"/>
          </a:p>
          <a:p>
            <a:pPr indent="0" lvl="0" marL="0" marR="0" rtl="0" algn="l">
              <a:spcBef>
                <a:spcPts val="0"/>
              </a:spcBef>
              <a:spcAft>
                <a:spcPts val="0"/>
              </a:spcAft>
              <a:buClr>
                <a:schemeClr val="dk1"/>
              </a:buClr>
              <a:buSzPts val="1100"/>
              <a:buFont typeface="Arial"/>
              <a:buNone/>
            </a:pPr>
            <a:r>
              <a:rPr lang="en" sz="1550"/>
              <a:t>         patients died</a:t>
            </a:r>
            <a:endParaRPr sz="1550"/>
          </a:p>
          <a:p>
            <a:pPr indent="0" lvl="0" marL="0" rtl="0" algn="l">
              <a:spcBef>
                <a:spcPts val="0"/>
              </a:spcBef>
              <a:spcAft>
                <a:spcPts val="1200"/>
              </a:spcAft>
              <a:buNone/>
            </a:pPr>
            <a:r>
              <a:t/>
            </a:r>
            <a:endParaRPr/>
          </a:p>
        </p:txBody>
      </p:sp>
      <p:pic>
        <p:nvPicPr>
          <p:cNvPr id="215" name="Google Shape;215;p36"/>
          <p:cNvPicPr preferRelativeResize="0"/>
          <p:nvPr/>
        </p:nvPicPr>
        <p:blipFill>
          <a:blip r:embed="rId3">
            <a:alphaModFix/>
          </a:blip>
          <a:stretch>
            <a:fillRect/>
          </a:stretch>
        </p:blipFill>
        <p:spPr>
          <a:xfrm>
            <a:off x="4098375" y="1152475"/>
            <a:ext cx="4733925" cy="1809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ASE</a:t>
            </a:r>
            <a:endParaRPr/>
          </a:p>
        </p:txBody>
      </p:sp>
      <p:sp>
        <p:nvSpPr>
          <p:cNvPr id="221" name="Google Shape;221;p37"/>
          <p:cNvSpPr txBox="1"/>
          <p:nvPr>
            <p:ph idx="1" type="body"/>
          </p:nvPr>
        </p:nvSpPr>
        <p:spPr>
          <a:xfrm>
            <a:off x="311700" y="1152475"/>
            <a:ext cx="555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Overall ASE is 0.1695</a:t>
            </a:r>
            <a:endParaRPr/>
          </a:p>
        </p:txBody>
      </p:sp>
      <p:pic>
        <p:nvPicPr>
          <p:cNvPr id="222" name="Google Shape;222;p37"/>
          <p:cNvPicPr preferRelativeResize="0"/>
          <p:nvPr/>
        </p:nvPicPr>
        <p:blipFill>
          <a:blip r:embed="rId3">
            <a:alphaModFix/>
          </a:blip>
          <a:stretch>
            <a:fillRect/>
          </a:stretch>
        </p:blipFill>
        <p:spPr>
          <a:xfrm>
            <a:off x="5956548" y="1152475"/>
            <a:ext cx="2875751" cy="3416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Evaluation</a:t>
            </a:r>
            <a:endParaRPr/>
          </a:p>
        </p:txBody>
      </p:sp>
      <p:sp>
        <p:nvSpPr>
          <p:cNvPr id="228" name="Google Shape;22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9" name="Google Shape;229;p38"/>
          <p:cNvPicPr preferRelativeResize="0"/>
          <p:nvPr/>
        </p:nvPicPr>
        <p:blipFill rotWithShape="1">
          <a:blip r:embed="rId3">
            <a:alphaModFix/>
          </a:blip>
          <a:srcRect b="0" l="632" r="602" t="2467"/>
          <a:stretch/>
        </p:blipFill>
        <p:spPr>
          <a:xfrm>
            <a:off x="311700" y="1152475"/>
            <a:ext cx="8520600" cy="24083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Model</a:t>
            </a:r>
            <a:endParaRPr/>
          </a:p>
        </p:txBody>
      </p:sp>
      <p:sp>
        <p:nvSpPr>
          <p:cNvPr id="235" name="Google Shape;235;p39"/>
          <p:cNvSpPr txBox="1"/>
          <p:nvPr>
            <p:ph idx="1" type="body"/>
          </p:nvPr>
        </p:nvSpPr>
        <p:spPr>
          <a:xfrm>
            <a:off x="311700" y="1152475"/>
            <a:ext cx="8520600" cy="3685200"/>
          </a:xfrm>
          <a:prstGeom prst="rect">
            <a:avLst/>
          </a:prstGeom>
        </p:spPr>
        <p:txBody>
          <a:bodyPr anchorCtr="0" anchor="t" bIns="91425" lIns="91425" spcFirstLastPara="1" rIns="91425" wrap="square" tIns="91425">
            <a:normAutofit lnSpcReduction="10000"/>
          </a:bodyPr>
          <a:lstStyle/>
          <a:p>
            <a:pPr indent="-327025" lvl="0" marL="457200" marR="0" rtl="0" algn="l">
              <a:spcBef>
                <a:spcPts val="0"/>
              </a:spcBef>
              <a:spcAft>
                <a:spcPts val="0"/>
              </a:spcAft>
              <a:buSzPts val="1550"/>
              <a:buChar char="●"/>
            </a:pPr>
            <a:r>
              <a:rPr lang="en" sz="1550"/>
              <a:t>Logistic Regression is the worst</a:t>
            </a:r>
            <a:endParaRPr sz="1550"/>
          </a:p>
          <a:p>
            <a:pPr indent="-327025" lvl="0" marL="457200" marR="0" rtl="0" algn="l">
              <a:spcBef>
                <a:spcPts val="0"/>
              </a:spcBef>
              <a:spcAft>
                <a:spcPts val="0"/>
              </a:spcAft>
              <a:buSzPts val="1550"/>
              <a:buChar char="●"/>
            </a:pPr>
            <a:r>
              <a:rPr lang="en" sz="1550"/>
              <a:t>CHAID is slightly better than Exhaustive CHAID</a:t>
            </a:r>
            <a:endParaRPr sz="1550"/>
          </a:p>
          <a:p>
            <a:pPr indent="-327025" lvl="0" marL="457200" marR="0" rtl="0" algn="l">
              <a:spcBef>
                <a:spcPts val="0"/>
              </a:spcBef>
              <a:spcAft>
                <a:spcPts val="0"/>
              </a:spcAft>
              <a:buSzPts val="1550"/>
              <a:buChar char="●"/>
            </a:pPr>
            <a:r>
              <a:rPr lang="en" sz="1550"/>
              <a:t>Depends on if we value a lower risk or a high sensitivity and specificity</a:t>
            </a:r>
            <a:endParaRPr sz="1550"/>
          </a:p>
          <a:p>
            <a:pPr indent="-327025" lvl="0" marL="457200" marR="0" rtl="0" algn="l">
              <a:spcBef>
                <a:spcPts val="0"/>
              </a:spcBef>
              <a:spcAft>
                <a:spcPts val="0"/>
              </a:spcAft>
              <a:buSzPts val="1550"/>
              <a:buChar char="●"/>
            </a:pPr>
            <a:r>
              <a:rPr lang="en" sz="1550"/>
              <a:t>The CHAID model has the lowest risk, but a lower specificity</a:t>
            </a:r>
            <a:endParaRPr sz="1550"/>
          </a:p>
          <a:p>
            <a:pPr indent="-327025" lvl="0" marL="457200" marR="0" rtl="0" algn="l">
              <a:spcBef>
                <a:spcPts val="0"/>
              </a:spcBef>
              <a:spcAft>
                <a:spcPts val="0"/>
              </a:spcAft>
              <a:buSzPts val="1550"/>
              <a:buChar char="●"/>
            </a:pPr>
            <a:r>
              <a:rPr lang="en" sz="1550"/>
              <a:t>The CART model has </a:t>
            </a:r>
            <a:r>
              <a:rPr lang="en" sz="1550"/>
              <a:t>a high specificity and high sensitivity, but </a:t>
            </a:r>
            <a:r>
              <a:rPr lang="en" sz="1550"/>
              <a:t>a higher risk</a:t>
            </a:r>
            <a:endParaRPr sz="1550"/>
          </a:p>
          <a:p>
            <a:pPr indent="-327025" lvl="0" marL="457200" marR="0" rtl="0" algn="l">
              <a:spcBef>
                <a:spcPts val="0"/>
              </a:spcBef>
              <a:spcAft>
                <a:spcPts val="0"/>
              </a:spcAft>
              <a:buSzPts val="1550"/>
              <a:buChar char="●"/>
            </a:pPr>
            <a:r>
              <a:rPr lang="en" sz="1550"/>
              <a:t>The risk is inflated due to the sensitivity, since most patients were categorized as alive (7.3% classified as dead) </a:t>
            </a:r>
            <a:endParaRPr sz="1550"/>
          </a:p>
          <a:p>
            <a:pPr indent="-327025" lvl="0" marL="457200" marR="0" rtl="0" algn="l">
              <a:spcBef>
                <a:spcPts val="0"/>
              </a:spcBef>
              <a:spcAft>
                <a:spcPts val="0"/>
              </a:spcAft>
              <a:buSzPts val="1550"/>
              <a:buChar char="●"/>
            </a:pPr>
            <a:r>
              <a:rPr lang="en" sz="1550"/>
              <a:t>Do we want to predict more people as likely to live and possibly have more people die </a:t>
            </a:r>
            <a:endParaRPr sz="1550"/>
          </a:p>
          <a:p>
            <a:pPr indent="0" lvl="0" marL="457200" marR="0" rtl="0" algn="l">
              <a:spcBef>
                <a:spcPts val="0"/>
              </a:spcBef>
              <a:spcAft>
                <a:spcPts val="0"/>
              </a:spcAft>
              <a:buNone/>
            </a:pPr>
            <a:r>
              <a:rPr lang="en" sz="1550"/>
              <a:t>because of this or do you want to predict more people as likely to die and have some people spend money and time to fix an unneeded situation? </a:t>
            </a:r>
            <a:endParaRPr sz="1550"/>
          </a:p>
          <a:p>
            <a:pPr indent="-327025" lvl="0" marL="457200" marR="0" rtl="0" algn="l">
              <a:spcBef>
                <a:spcPts val="0"/>
              </a:spcBef>
              <a:spcAft>
                <a:spcPts val="0"/>
              </a:spcAft>
              <a:buSzPts val="1550"/>
              <a:buChar char="●"/>
            </a:pPr>
            <a:r>
              <a:rPr lang="en" sz="1550"/>
              <a:t>Under these conditions, we believe the best model is the CART model because, though it is lacking in the best predicting, just because of the hospital setting, it is the job of the workers</a:t>
            </a:r>
            <a:endParaRPr sz="1550"/>
          </a:p>
          <a:p>
            <a:pPr indent="0" lvl="0" marL="457200" marR="0" rtl="0" algn="l">
              <a:spcBef>
                <a:spcPts val="0"/>
              </a:spcBef>
              <a:spcAft>
                <a:spcPts val="0"/>
              </a:spcAft>
              <a:buNone/>
            </a:pPr>
            <a:r>
              <a:rPr lang="en" sz="1550"/>
              <a:t>to save the most amount of people possible, and this model contains a broader range of who </a:t>
            </a:r>
            <a:endParaRPr sz="1550"/>
          </a:p>
          <a:p>
            <a:pPr indent="0" lvl="0" marL="457200" marR="0" rtl="0" algn="l">
              <a:spcBef>
                <a:spcPts val="0"/>
              </a:spcBef>
              <a:spcAft>
                <a:spcPts val="0"/>
              </a:spcAft>
              <a:buNone/>
            </a:pPr>
            <a:r>
              <a:rPr lang="en" sz="1550"/>
              <a:t>is likely to die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